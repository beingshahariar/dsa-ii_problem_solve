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Playfair Display"/>
      <p:regular r:id="rId25"/>
      <p:bold r:id="rId26"/>
      <p:italic r:id="rId27"/>
      <p:boldItalic r:id="rId28"/>
    </p:embeddedFont>
    <p:embeddedFont>
      <p:font typeface="Montserrat"/>
      <p:regular r:id="rId29"/>
      <p:bold r:id="rId30"/>
      <p:italic r:id="rId31"/>
      <p:boldItalic r:id="rId32"/>
    </p:embeddedFont>
    <p:embeddedFont>
      <p:font typeface="Tahoma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5" roundtripDataSignature="AMtx7mit1EZTDzqxuUlUM0WGhEA4RFsy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ayfairDisplay-bold.fntdata"/><Relationship Id="rId25" Type="http://schemas.openxmlformats.org/officeDocument/2006/relationships/font" Target="fonts/PlayfairDisplay-regular.fntdata"/><Relationship Id="rId28" Type="http://schemas.openxmlformats.org/officeDocument/2006/relationships/font" Target="fonts/PlayfairDisplay-boldItalic.fntdata"/><Relationship Id="rId27" Type="http://schemas.openxmlformats.org/officeDocument/2006/relationships/font" Target="fonts/PlayfairDisplay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italic.fntdata"/><Relationship Id="rId30" Type="http://schemas.openxmlformats.org/officeDocument/2006/relationships/font" Target="fonts/Montserrat-bold.fntdata"/><Relationship Id="rId11" Type="http://schemas.openxmlformats.org/officeDocument/2006/relationships/slide" Target="slides/slide6.xml"/><Relationship Id="rId33" Type="http://schemas.openxmlformats.org/officeDocument/2006/relationships/font" Target="fonts/Tahoma-regular.fntdata"/><Relationship Id="rId10" Type="http://schemas.openxmlformats.org/officeDocument/2006/relationships/slide" Target="slides/slide5.xml"/><Relationship Id="rId32" Type="http://schemas.openxmlformats.org/officeDocument/2006/relationships/font" Target="fonts/Montserrat-boldItalic.fntdata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Tahoma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" name="Google Shape;7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a9dc61e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7a9dc61e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22fd0885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822fd0885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22fd0885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822fd0885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22fd0885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822fd0885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22fd0885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822fd0885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468f9175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468f9175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22fd0885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822fd0885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22fd0885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822fd0885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22fd0885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822fd0885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22fd0885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22fd0885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22fd08855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822fd0885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22fd08855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822fd08855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22fd08855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822fd08855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822fd08855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822fd08855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822fd08855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822fd08855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7a4b6cd89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7a4b6cd8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6"/>
          <p:cNvSpPr txBox="1"/>
          <p:nvPr/>
        </p:nvSpPr>
        <p:spPr>
          <a:xfrm>
            <a:off x="-57475" y="-43600"/>
            <a:ext cx="9201600" cy="5187300"/>
          </a:xfrm>
          <a:prstGeom prst="rect">
            <a:avLst/>
          </a:prstGeom>
          <a:solidFill>
            <a:srgbClr val="FF57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mbria"/>
              <a:buNone/>
              <a:defRPr b="1" sz="35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7"/>
          <p:cNvSpPr txBox="1"/>
          <p:nvPr/>
        </p:nvSpPr>
        <p:spPr>
          <a:xfrm>
            <a:off x="0" y="4663221"/>
            <a:ext cx="9144000" cy="480300"/>
          </a:xfrm>
          <a:prstGeom prst="rect">
            <a:avLst/>
          </a:prstGeom>
          <a:solidFill>
            <a:srgbClr val="FF57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" name="Google Shape;19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19525" y="248150"/>
            <a:ext cx="800750" cy="72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7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" name="Google Shape;2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 b="1">
                <a:latin typeface="Cambria"/>
                <a:ea typeface="Cambria"/>
                <a:cs typeface="Cambria"/>
                <a:sym typeface="Cambr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3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330214" y="460805"/>
            <a:ext cx="8482200" cy="891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6"/>
          <p:cNvSpPr txBox="1"/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36"/>
          <p:cNvSpPr txBox="1"/>
          <p:nvPr>
            <p:ph idx="1" type="body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8" name="Google Shape;58;p36"/>
          <p:cNvSpPr txBox="1"/>
          <p:nvPr>
            <p:ph idx="10" type="dt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36"/>
          <p:cNvSpPr txBox="1"/>
          <p:nvPr>
            <p:ph idx="11" type="ftr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36"/>
          <p:cNvSpPr txBox="1"/>
          <p:nvPr>
            <p:ph idx="12" type="sldNum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7"/>
          <p:cNvSpPr/>
          <p:nvPr/>
        </p:nvSpPr>
        <p:spPr>
          <a:xfrm>
            <a:off x="334486" y="454915"/>
            <a:ext cx="8475000" cy="9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7"/>
          <p:cNvSpPr txBox="1"/>
          <p:nvPr>
            <p:ph type="title"/>
          </p:nvPr>
        </p:nvSpPr>
        <p:spPr>
          <a:xfrm>
            <a:off x="435895" y="547244"/>
            <a:ext cx="82722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37"/>
          <p:cNvSpPr txBox="1"/>
          <p:nvPr>
            <p:ph idx="1" type="body"/>
          </p:nvPr>
        </p:nvSpPr>
        <p:spPr>
          <a:xfrm>
            <a:off x="435895" y="1671002"/>
            <a:ext cx="4066800" cy="27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5" name="Google Shape;65;p37"/>
          <p:cNvSpPr txBox="1"/>
          <p:nvPr>
            <p:ph idx="2" type="body"/>
          </p:nvPr>
        </p:nvSpPr>
        <p:spPr>
          <a:xfrm>
            <a:off x="4641313" y="1671002"/>
            <a:ext cx="4066800" cy="27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6" name="Google Shape;66;p37"/>
          <p:cNvSpPr txBox="1"/>
          <p:nvPr>
            <p:ph idx="10" type="dt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37"/>
          <p:cNvSpPr txBox="1"/>
          <p:nvPr>
            <p:ph idx="11" type="ftr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37"/>
          <p:cNvSpPr txBox="1"/>
          <p:nvPr>
            <p:ph idx="12" type="sldNum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4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"/>
          <p:cNvSpPr txBox="1"/>
          <p:nvPr/>
        </p:nvSpPr>
        <p:spPr>
          <a:xfrm>
            <a:off x="13675" y="4473200"/>
            <a:ext cx="9144000" cy="670200"/>
          </a:xfrm>
          <a:prstGeom prst="rect">
            <a:avLst/>
          </a:prstGeom>
          <a:solidFill>
            <a:srgbClr val="FF57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1663" y="451200"/>
            <a:ext cx="1560675" cy="14216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"/>
          <p:cNvSpPr txBox="1"/>
          <p:nvPr/>
        </p:nvSpPr>
        <p:spPr>
          <a:xfrm>
            <a:off x="27350" y="2240850"/>
            <a:ext cx="91440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" sz="3100" u="none" cap="none" strike="noStrike">
                <a:solidFill>
                  <a:srgbClr val="595959"/>
                </a:solidFill>
                <a:latin typeface="Cambria"/>
                <a:ea typeface="Cambria"/>
                <a:cs typeface="Cambria"/>
                <a:sym typeface="Cambria"/>
              </a:rPr>
              <a:t>CSE 2218: Data Structures and Algorithms II Laboratory</a:t>
            </a:r>
            <a:endParaRPr b="1" i="0" sz="3100" u="none" cap="none" strike="noStrike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27350" y="3180025"/>
            <a:ext cx="9083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Sherajul Arifin</a:t>
            </a:r>
            <a:endParaRPr b="1" i="0" sz="22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Lecturer, Department of Computer Science and Engineering,</a:t>
            </a:r>
            <a:endParaRPr b="0" i="0" sz="16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United</a:t>
            </a:r>
            <a:r>
              <a:rPr b="0" i="0" lang="en" sz="1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" sz="1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International</a:t>
            </a:r>
            <a:r>
              <a:rPr b="0" i="0" lang="en" sz="1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" sz="1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University</a:t>
            </a:r>
            <a:endParaRPr b="1" i="0" sz="16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5700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 txBox="1"/>
          <p:nvPr>
            <p:ph type="title"/>
          </p:nvPr>
        </p:nvSpPr>
        <p:spPr>
          <a:xfrm>
            <a:off x="580950" y="1194920"/>
            <a:ext cx="7982100" cy="28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Gill Sans"/>
              <a:buNone/>
            </a:pPr>
            <a:r>
              <a:rPr b="0" lang="en" sz="4500">
                <a:latin typeface="Playfair Display"/>
                <a:ea typeface="Playfair Display"/>
                <a:cs typeface="Playfair Display"/>
                <a:sym typeface="Playfair Display"/>
              </a:rPr>
              <a:t>Shortest Path Algorithms</a:t>
            </a:r>
            <a:endParaRPr b="0" sz="45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2" name="Google Shape;8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lang="en" sz="1000">
                <a:solidFill>
                  <a:schemeClr val="dk2"/>
                </a:solidFill>
              </a:rPr>
              <a:t>‹#›</a:t>
            </a:fld>
            <a:endParaRPr b="0"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a9dc61e4d_0_0"/>
          <p:cNvSpPr txBox="1"/>
          <p:nvPr>
            <p:ph idx="1" type="body"/>
          </p:nvPr>
        </p:nvSpPr>
        <p:spPr>
          <a:xfrm>
            <a:off x="311700" y="536525"/>
            <a:ext cx="7999200" cy="34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Given a graph (directed or undirected) G = (V, E) with weight function w: E → R and a vertex s ∈ V, find for all vertices v ∈ V the minimum possible weight for path from s to v.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 will discuss two general case algorithms: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">
                <a:solidFill>
                  <a:schemeClr val="dk1"/>
                </a:solidFill>
              </a:rPr>
              <a:t>Dijkstra</a:t>
            </a:r>
            <a:r>
              <a:rPr lang="en">
                <a:solidFill>
                  <a:schemeClr val="dk1"/>
                </a:solidFill>
              </a:rPr>
              <a:t>'s Algorithm (positive edge weights only)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">
                <a:solidFill>
                  <a:schemeClr val="dk1"/>
                </a:solidFill>
              </a:rPr>
              <a:t>Bellman-Ford</a:t>
            </a:r>
            <a:r>
              <a:rPr lang="en">
                <a:solidFill>
                  <a:schemeClr val="dk1"/>
                </a:solidFill>
              </a:rPr>
              <a:t> Algorithm (positive and negative edge weights)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If </a:t>
            </a:r>
            <a:r>
              <a:rPr b="1" lang="en">
                <a:solidFill>
                  <a:schemeClr val="dk1"/>
                </a:solidFill>
              </a:rPr>
              <a:t>all edge weights</a:t>
            </a:r>
            <a:r>
              <a:rPr lang="en">
                <a:solidFill>
                  <a:schemeClr val="dk1"/>
                </a:solidFill>
              </a:rPr>
              <a:t> are </a:t>
            </a:r>
            <a:r>
              <a:rPr b="1" lang="en">
                <a:solidFill>
                  <a:schemeClr val="dk1"/>
                </a:solidFill>
              </a:rPr>
              <a:t>equal</a:t>
            </a:r>
            <a:r>
              <a:rPr lang="en">
                <a:solidFill>
                  <a:schemeClr val="dk1"/>
                </a:solidFill>
              </a:rPr>
              <a:t> (let's say 1), the problem is solved by </a:t>
            </a:r>
            <a:r>
              <a:rPr b="1" lang="en">
                <a:solidFill>
                  <a:schemeClr val="dk1"/>
                </a:solidFill>
              </a:rPr>
              <a:t>BFS</a:t>
            </a:r>
            <a:r>
              <a:rPr lang="en">
                <a:solidFill>
                  <a:schemeClr val="dk1"/>
                </a:solidFill>
              </a:rPr>
              <a:t> in Θ(V + E) time.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8" name="Google Shape;88;g37a9dc61e4d_0_0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  <p:sp>
        <p:nvSpPr>
          <p:cNvPr id="89" name="Google Shape;89;g37a9dc61e4d_0_0"/>
          <p:cNvSpPr txBox="1"/>
          <p:nvPr>
            <p:ph type="title"/>
          </p:nvPr>
        </p:nvSpPr>
        <p:spPr>
          <a:xfrm>
            <a:off x="311700" y="124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220"/>
              <a:t>Single Source Shortest Path</a:t>
            </a:r>
            <a:endParaRPr sz="222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22fd08855_0_5"/>
          <p:cNvSpPr txBox="1"/>
          <p:nvPr>
            <p:ph idx="1" type="body"/>
          </p:nvPr>
        </p:nvSpPr>
        <p:spPr>
          <a:xfrm>
            <a:off x="311700" y="603100"/>
            <a:ext cx="7796100" cy="39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Greedy algorithm:</a:t>
            </a:r>
            <a:r>
              <a:rPr lang="en">
                <a:solidFill>
                  <a:schemeClr val="dk1"/>
                </a:solidFill>
              </a:rPr>
              <a:t> always expand the node with the smallest known distance.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Uses a priority queue (min-heap) for efficiency.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Steps: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Initialize dist[] with ∞, dist[src] = 0.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Use a min-heap (priority_queue in C++ with custom comparator).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While heap not empty:</a:t>
            </a:r>
            <a:endParaRPr>
              <a:solidFill>
                <a:schemeClr val="dk1"/>
              </a:solidFill>
            </a:endParaRPr>
          </a:p>
          <a:p>
            <a:pPr indent="-331229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16"/>
              <a:buChar char="-"/>
            </a:pPr>
            <a:r>
              <a:rPr lang="en" sz="1616">
                <a:solidFill>
                  <a:schemeClr val="dk1"/>
                </a:solidFill>
              </a:rPr>
              <a:t>Extract node u with minimum dist[u].</a:t>
            </a:r>
            <a:endParaRPr sz="1616">
              <a:solidFill>
                <a:schemeClr val="dk1"/>
              </a:solidFill>
            </a:endParaRPr>
          </a:p>
          <a:p>
            <a:pPr indent="-331229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16"/>
              <a:buChar char="-"/>
            </a:pPr>
            <a:r>
              <a:rPr lang="en" sz="1616">
                <a:solidFill>
                  <a:schemeClr val="dk1"/>
                </a:solidFill>
              </a:rPr>
              <a:t>For each edge (u, v, w): if dist[u] + w &lt; dist[v], update dist[v] and push into heap.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5" name="Google Shape;95;g3822fd08855_0_5"/>
          <p:cNvSpPr txBox="1"/>
          <p:nvPr>
            <p:ph type="title"/>
          </p:nvPr>
        </p:nvSpPr>
        <p:spPr>
          <a:xfrm>
            <a:off x="311700" y="124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220"/>
              <a:t>Dijkstra’s Algorithm</a:t>
            </a:r>
            <a:endParaRPr sz="2220"/>
          </a:p>
        </p:txBody>
      </p:sp>
      <p:sp>
        <p:nvSpPr>
          <p:cNvPr id="96" name="Google Shape;96;g3822fd08855_0_5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22fd08855_0_18"/>
          <p:cNvSpPr txBox="1"/>
          <p:nvPr>
            <p:ph idx="1" type="body"/>
          </p:nvPr>
        </p:nvSpPr>
        <p:spPr>
          <a:xfrm>
            <a:off x="311700" y="603100"/>
            <a:ext cx="7796100" cy="39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Complexity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Each edge may be relaxed once: O(E log V) due to priority queue.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Extracting min happens V times.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Total = O((V + E) log V).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2" name="Google Shape;102;g3822fd08855_0_18"/>
          <p:cNvSpPr txBox="1"/>
          <p:nvPr>
            <p:ph type="title"/>
          </p:nvPr>
        </p:nvSpPr>
        <p:spPr>
          <a:xfrm>
            <a:off x="311700" y="124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220"/>
              <a:t>Dijkstra’s Algorithm</a:t>
            </a:r>
            <a:endParaRPr sz="2220"/>
          </a:p>
        </p:txBody>
      </p:sp>
      <p:sp>
        <p:nvSpPr>
          <p:cNvPr id="103" name="Google Shape;103;g3822fd08855_0_18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22fd08855_0_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Dijkstra’s Algorithm</a:t>
            </a:r>
            <a:endParaRPr/>
          </a:p>
        </p:txBody>
      </p:sp>
      <p:sp>
        <p:nvSpPr>
          <p:cNvPr id="109" name="Google Shape;109;g3822fd08855_0_11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  <p:pic>
        <p:nvPicPr>
          <p:cNvPr id="110" name="Google Shape;110;g3822fd08855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550" y="1066512"/>
            <a:ext cx="3639551" cy="3010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822fd08855_0_11" title="Dijkstra_Animation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8976" y="1266550"/>
            <a:ext cx="2695575" cy="21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22fd08855_0_32"/>
          <p:cNvSpPr txBox="1"/>
          <p:nvPr>
            <p:ph idx="1" type="body"/>
          </p:nvPr>
        </p:nvSpPr>
        <p:spPr>
          <a:xfrm>
            <a:off x="311700" y="603100"/>
            <a:ext cx="7796100" cy="39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Dynamic programming approach: Repeatedly relax all edges up to V-1 times (shortest path can have at most V-1 edges).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Detects negative cycles if distances still improve after V-1 relaxations.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Steps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Initialize dist[] with ∞, dist[src] = 0.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Repeat V-1 times:</a:t>
            </a:r>
            <a:endParaRPr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For each edge (u, v, w): if dist[u] + w &lt; dist[v], update dist[v].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Run one more iteration: if any edge relaxes, report a negative cycle.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Complexity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Each iteration checks all E edges.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Runs for V-1 iterations → O(V * E).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7" name="Google Shape;117;g3822fd08855_0_32"/>
          <p:cNvSpPr txBox="1"/>
          <p:nvPr>
            <p:ph type="title"/>
          </p:nvPr>
        </p:nvSpPr>
        <p:spPr>
          <a:xfrm>
            <a:off x="311700" y="124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220"/>
              <a:t>Bellman-Ford Algorithm</a:t>
            </a:r>
            <a:endParaRPr sz="2220"/>
          </a:p>
        </p:txBody>
      </p:sp>
      <p:sp>
        <p:nvSpPr>
          <p:cNvPr id="118" name="Google Shape;118;g3822fd08855_0_32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468f9175d_0_6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g38468f9175d_0_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8468f9175d_0_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g38468f9175d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6" y="1152475"/>
            <a:ext cx="2446599" cy="308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22fd08855_0_38"/>
          <p:cNvSpPr txBox="1"/>
          <p:nvPr>
            <p:ph type="title"/>
          </p:nvPr>
        </p:nvSpPr>
        <p:spPr>
          <a:xfrm>
            <a:off x="311700" y="124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220"/>
              <a:t>Bellman-Ford Algorithm</a:t>
            </a:r>
            <a:endParaRPr sz="2220"/>
          </a:p>
        </p:txBody>
      </p:sp>
      <p:sp>
        <p:nvSpPr>
          <p:cNvPr id="132" name="Google Shape;132;g3822fd08855_0_38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  <p:sp>
        <p:nvSpPr>
          <p:cNvPr id="133" name="Google Shape;133;g3822fd08855_0_38"/>
          <p:cNvSpPr/>
          <p:nvPr/>
        </p:nvSpPr>
        <p:spPr>
          <a:xfrm>
            <a:off x="333070" y="750400"/>
            <a:ext cx="61812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BellmanFord()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1   for each v ∈ V</a:t>
            </a:r>
            <a:endParaRPr sz="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2      d[v] = ∞;</a:t>
            </a:r>
            <a:endParaRPr sz="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3   d[s] = 0;</a:t>
            </a:r>
            <a:endParaRPr sz="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4   for i=1 to |V|-1</a:t>
            </a:r>
            <a:endParaRPr sz="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5      for each edge (u,v) ∈ E</a:t>
            </a:r>
            <a:endParaRPr sz="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6         Relax(u,v,w);</a:t>
            </a:r>
            <a:endParaRPr sz="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7   for each edge (u,v) ∈ E</a:t>
            </a:r>
            <a:endParaRPr sz="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8      if (d[v] &gt; d[u] + w(u,v))</a:t>
            </a:r>
            <a:endParaRPr sz="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9           return “no solution”;</a:t>
            </a:r>
            <a:endParaRPr sz="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Relax(u,v,w): if (d[v] &gt; d[u]+w(u,v)) </a:t>
            </a:r>
            <a:endParaRPr sz="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 then d[v]=d[u]+w(u,v)</a:t>
            </a:r>
            <a:endParaRPr i="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34" name="Google Shape;134;g3822fd08855_0_38" title="bellman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8875" y="1510900"/>
            <a:ext cx="4453424" cy="212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5700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22fd08855_0_0"/>
          <p:cNvSpPr txBox="1"/>
          <p:nvPr>
            <p:ph type="title"/>
          </p:nvPr>
        </p:nvSpPr>
        <p:spPr>
          <a:xfrm>
            <a:off x="580950" y="1194920"/>
            <a:ext cx="7982100" cy="28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Gill Sans"/>
              <a:buNone/>
            </a:pPr>
            <a:r>
              <a:rPr b="0" lang="en" sz="4500">
                <a:latin typeface="Playfair Display"/>
                <a:ea typeface="Playfair Display"/>
                <a:cs typeface="Playfair Display"/>
                <a:sym typeface="Playfair Display"/>
              </a:rPr>
              <a:t>Minimum Spanning Tree</a:t>
            </a:r>
            <a:endParaRPr b="0" sz="45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40" name="Google Shape;140;g3822fd08855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lang="en" sz="1000">
                <a:solidFill>
                  <a:schemeClr val="dk2"/>
                </a:solidFill>
              </a:rPr>
              <a:t>‹#›</a:t>
            </a:fld>
            <a:endParaRPr b="0"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22fd08855_0_45"/>
          <p:cNvSpPr txBox="1"/>
          <p:nvPr>
            <p:ph idx="1" type="body"/>
          </p:nvPr>
        </p:nvSpPr>
        <p:spPr>
          <a:xfrm>
            <a:off x="311700" y="603100"/>
            <a:ext cx="8073900" cy="39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 spanning tree is a subset of Graph G, which has all the vertices covered with minimum possible number of edges.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Hence, a spanning tree does not have cycles and it cannot be disconnected. By this definition, we can draw a conclusion that every connected and undirected Graph G has at least one spanning tree.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If there are n vertices in the graph, then each spanning tree has n − 1 edges.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6" name="Google Shape;146;g3822fd08855_0_45"/>
          <p:cNvSpPr txBox="1"/>
          <p:nvPr>
            <p:ph type="title"/>
          </p:nvPr>
        </p:nvSpPr>
        <p:spPr>
          <a:xfrm>
            <a:off x="311700" y="124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220"/>
              <a:t>Spanning Tree</a:t>
            </a:r>
            <a:endParaRPr sz="2220"/>
          </a:p>
        </p:txBody>
      </p:sp>
      <p:sp>
        <p:nvSpPr>
          <p:cNvPr id="147" name="Google Shape;147;g3822fd08855_0_45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22fd08855_0_57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g3822fd08855_0_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822fd08855_0_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55;g3822fd08855_0_5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6200" y="153775"/>
            <a:ext cx="3171600" cy="441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22fd08855_0_64"/>
          <p:cNvSpPr txBox="1"/>
          <p:nvPr>
            <p:ph idx="1" type="body"/>
          </p:nvPr>
        </p:nvSpPr>
        <p:spPr>
          <a:xfrm>
            <a:off x="311700" y="603100"/>
            <a:ext cx="8073900" cy="39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1" name="Google Shape;161;g3822fd08855_0_64"/>
          <p:cNvSpPr txBox="1"/>
          <p:nvPr>
            <p:ph type="title"/>
          </p:nvPr>
        </p:nvSpPr>
        <p:spPr>
          <a:xfrm>
            <a:off x="311700" y="124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220"/>
              <a:t>Minimum </a:t>
            </a:r>
            <a:r>
              <a:rPr lang="en" sz="2220"/>
              <a:t>Spanning Tree</a:t>
            </a:r>
            <a:endParaRPr sz="2220"/>
          </a:p>
        </p:txBody>
      </p:sp>
      <p:sp>
        <p:nvSpPr>
          <p:cNvPr id="162" name="Google Shape;162;g3822fd08855_0_64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  <p:pic>
        <p:nvPicPr>
          <p:cNvPr id="163" name="Google Shape;163;g3822fd08855_0_6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3550" y="1393148"/>
            <a:ext cx="6696900" cy="272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22fd08855_0_71"/>
          <p:cNvSpPr txBox="1"/>
          <p:nvPr>
            <p:ph idx="1" type="body"/>
          </p:nvPr>
        </p:nvSpPr>
        <p:spPr>
          <a:xfrm>
            <a:off x="311700" y="603100"/>
            <a:ext cx="8073900" cy="39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9" name="Google Shape;169;g3822fd08855_0_71"/>
          <p:cNvSpPr txBox="1"/>
          <p:nvPr>
            <p:ph type="title"/>
          </p:nvPr>
        </p:nvSpPr>
        <p:spPr>
          <a:xfrm>
            <a:off x="311700" y="124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220"/>
              <a:t>Minimum Spanning Tree</a:t>
            </a:r>
            <a:endParaRPr sz="2220"/>
          </a:p>
        </p:txBody>
      </p:sp>
      <p:sp>
        <p:nvSpPr>
          <p:cNvPr id="170" name="Google Shape;170;g3822fd08855_0_71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  <p:pic>
        <p:nvPicPr>
          <p:cNvPr id="171" name="Google Shape;171;g3822fd08855_0_7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5450" y="816750"/>
            <a:ext cx="6086400" cy="35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22fd08855_0_79"/>
          <p:cNvSpPr txBox="1"/>
          <p:nvPr>
            <p:ph idx="1" type="body"/>
          </p:nvPr>
        </p:nvSpPr>
        <p:spPr>
          <a:xfrm>
            <a:off x="258225" y="582750"/>
            <a:ext cx="8073900" cy="39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Problem:</a:t>
            </a:r>
            <a:r>
              <a:rPr lang="en">
                <a:solidFill>
                  <a:schemeClr val="dk1"/>
                </a:solidFill>
              </a:rPr>
              <a:t> given a connected, undirected, weighted graph, find a spanning tree using edges that minimize the total weight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7" name="Google Shape;177;g3822fd08855_0_79"/>
          <p:cNvSpPr txBox="1"/>
          <p:nvPr>
            <p:ph type="title"/>
          </p:nvPr>
        </p:nvSpPr>
        <p:spPr>
          <a:xfrm>
            <a:off x="311700" y="124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220"/>
              <a:t>Minimum Spanning Tree</a:t>
            </a:r>
            <a:endParaRPr sz="2220"/>
          </a:p>
        </p:txBody>
      </p:sp>
      <p:sp>
        <p:nvSpPr>
          <p:cNvPr id="178" name="Google Shape;178;g3822fd08855_0_79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  <p:grpSp>
        <p:nvGrpSpPr>
          <p:cNvPr id="179" name="Google Shape;179;g3822fd08855_0_79"/>
          <p:cNvGrpSpPr/>
          <p:nvPr/>
        </p:nvGrpSpPr>
        <p:grpSpPr>
          <a:xfrm>
            <a:off x="1466798" y="1687293"/>
            <a:ext cx="5829094" cy="2844820"/>
            <a:chOff x="1466846" y="2565400"/>
            <a:chExt cx="6381754" cy="3505200"/>
          </a:xfrm>
        </p:grpSpPr>
        <p:sp>
          <p:nvSpPr>
            <p:cNvPr id="180" name="Google Shape;180;g3822fd08855_0_79"/>
            <p:cNvSpPr/>
            <p:nvPr/>
          </p:nvSpPr>
          <p:spPr>
            <a:xfrm>
              <a:off x="3124200" y="2565400"/>
              <a:ext cx="533400" cy="5334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rgbClr val="0000CC"/>
                </a:gs>
              </a:gsLst>
              <a:path path="circle">
                <a:fillToRect b="50%" l="50%" r="50%" t="50%"/>
              </a:path>
              <a:tileRect/>
            </a:gradFill>
            <a:ln cap="flat" cmpd="sng" w="38100">
              <a:solidFill>
                <a:srgbClr val="0000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81" name="Google Shape;181;g3822fd08855_0_79"/>
            <p:cNvGrpSpPr/>
            <p:nvPr/>
          </p:nvGrpSpPr>
          <p:grpSpPr>
            <a:xfrm>
              <a:off x="1466846" y="2794000"/>
              <a:ext cx="6381754" cy="3276600"/>
              <a:chOff x="1466846" y="2794000"/>
              <a:chExt cx="6381754" cy="3276600"/>
            </a:xfrm>
          </p:grpSpPr>
          <p:sp>
            <p:nvSpPr>
              <p:cNvPr id="182" name="Google Shape;182;g3822fd08855_0_79"/>
              <p:cNvSpPr/>
              <p:nvPr/>
            </p:nvSpPr>
            <p:spPr>
              <a:xfrm>
                <a:off x="1600200" y="3251200"/>
                <a:ext cx="533400" cy="533400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0000CC"/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38100">
                <a:solidFill>
                  <a:srgbClr val="0000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3" name="Google Shape;183;g3822fd08855_0_79"/>
              <p:cNvSpPr/>
              <p:nvPr/>
            </p:nvSpPr>
            <p:spPr>
              <a:xfrm>
                <a:off x="4648200" y="3251200"/>
                <a:ext cx="533400" cy="533400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0000CC"/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38100">
                <a:solidFill>
                  <a:srgbClr val="0000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4" name="Google Shape;184;g3822fd08855_0_79"/>
              <p:cNvSpPr/>
              <p:nvPr/>
            </p:nvSpPr>
            <p:spPr>
              <a:xfrm>
                <a:off x="7315200" y="3251200"/>
                <a:ext cx="533400" cy="533400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0000CC"/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38100">
                <a:solidFill>
                  <a:srgbClr val="0000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5" name="Google Shape;185;g3822fd08855_0_79"/>
              <p:cNvSpPr/>
              <p:nvPr/>
            </p:nvSpPr>
            <p:spPr>
              <a:xfrm>
                <a:off x="1600200" y="4851400"/>
                <a:ext cx="533400" cy="533400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0000CC"/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38100">
                <a:solidFill>
                  <a:srgbClr val="0000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6" name="Google Shape;186;g3822fd08855_0_79"/>
              <p:cNvSpPr/>
              <p:nvPr/>
            </p:nvSpPr>
            <p:spPr>
              <a:xfrm>
                <a:off x="4648200" y="4851400"/>
                <a:ext cx="533400" cy="533400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0000CC"/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38100">
                <a:solidFill>
                  <a:srgbClr val="0000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7" name="Google Shape;187;g3822fd08855_0_79"/>
              <p:cNvSpPr/>
              <p:nvPr/>
            </p:nvSpPr>
            <p:spPr>
              <a:xfrm>
                <a:off x="7315200" y="4851400"/>
                <a:ext cx="533400" cy="533400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0000CC"/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38100">
                <a:solidFill>
                  <a:srgbClr val="0000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8" name="Google Shape;188;g3822fd08855_0_79"/>
              <p:cNvSpPr/>
              <p:nvPr/>
            </p:nvSpPr>
            <p:spPr>
              <a:xfrm>
                <a:off x="3124200" y="5537200"/>
                <a:ext cx="533400" cy="533400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0000CC"/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38100">
                <a:solidFill>
                  <a:srgbClr val="0000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cxnSp>
            <p:nvCxnSpPr>
              <p:cNvPr id="189" name="Google Shape;189;g3822fd08855_0_79"/>
              <p:cNvCxnSpPr>
                <a:stCxn id="180" idx="5"/>
                <a:endCxn id="183" idx="1"/>
              </p:cNvCxnSpPr>
              <p:nvPr/>
            </p:nvCxnSpPr>
            <p:spPr>
              <a:xfrm>
                <a:off x="3579485" y="3020685"/>
                <a:ext cx="1146900" cy="3087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" name="Google Shape;190;g3822fd08855_0_79"/>
              <p:cNvCxnSpPr>
                <a:stCxn id="180" idx="3"/>
                <a:endCxn id="182" idx="7"/>
              </p:cNvCxnSpPr>
              <p:nvPr/>
            </p:nvCxnSpPr>
            <p:spPr>
              <a:xfrm flipH="1">
                <a:off x="2055415" y="3020685"/>
                <a:ext cx="1146900" cy="3087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1" name="Google Shape;191;g3822fd08855_0_79"/>
              <p:cNvCxnSpPr>
                <a:stCxn id="182" idx="6"/>
                <a:endCxn id="183" idx="2"/>
              </p:cNvCxnSpPr>
              <p:nvPr/>
            </p:nvCxnSpPr>
            <p:spPr>
              <a:xfrm>
                <a:off x="2133600" y="3517900"/>
                <a:ext cx="25146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2" name="Google Shape;192;g3822fd08855_0_79"/>
              <p:cNvCxnSpPr>
                <a:stCxn id="185" idx="0"/>
                <a:endCxn id="182" idx="4"/>
              </p:cNvCxnSpPr>
              <p:nvPr/>
            </p:nvCxnSpPr>
            <p:spPr>
              <a:xfrm rot="10800000">
                <a:off x="1866900" y="3784600"/>
                <a:ext cx="0" cy="1066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3" name="Google Shape;193;g3822fd08855_0_79"/>
              <p:cNvCxnSpPr>
                <a:stCxn id="185" idx="5"/>
                <a:endCxn id="188" idx="1"/>
              </p:cNvCxnSpPr>
              <p:nvPr/>
            </p:nvCxnSpPr>
            <p:spPr>
              <a:xfrm>
                <a:off x="2055485" y="5306685"/>
                <a:ext cx="1146900" cy="3087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4" name="Google Shape;194;g3822fd08855_0_79"/>
              <p:cNvCxnSpPr>
                <a:stCxn id="188" idx="7"/>
                <a:endCxn id="186" idx="3"/>
              </p:cNvCxnSpPr>
              <p:nvPr/>
            </p:nvCxnSpPr>
            <p:spPr>
              <a:xfrm flipH="1" rot="10800000">
                <a:off x="3579485" y="5306615"/>
                <a:ext cx="1146900" cy="3087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5" name="Google Shape;195;g3822fd08855_0_79"/>
              <p:cNvCxnSpPr>
                <a:stCxn id="186" idx="0"/>
                <a:endCxn id="183" idx="4"/>
              </p:cNvCxnSpPr>
              <p:nvPr/>
            </p:nvCxnSpPr>
            <p:spPr>
              <a:xfrm rot="10800000">
                <a:off x="4914900" y="3784600"/>
                <a:ext cx="0" cy="1066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6" name="Google Shape;196;g3822fd08855_0_79"/>
              <p:cNvCxnSpPr>
                <a:stCxn id="183" idx="6"/>
                <a:endCxn id="184" idx="2"/>
              </p:cNvCxnSpPr>
              <p:nvPr/>
            </p:nvCxnSpPr>
            <p:spPr>
              <a:xfrm>
                <a:off x="5181600" y="3517900"/>
                <a:ext cx="21336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7" name="Google Shape;197;g3822fd08855_0_79"/>
              <p:cNvCxnSpPr>
                <a:stCxn id="186" idx="6"/>
                <a:endCxn id="187" idx="2"/>
              </p:cNvCxnSpPr>
              <p:nvPr/>
            </p:nvCxnSpPr>
            <p:spPr>
              <a:xfrm>
                <a:off x="5181600" y="5118100"/>
                <a:ext cx="21336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8" name="Google Shape;198;g3822fd08855_0_79"/>
              <p:cNvCxnSpPr>
                <a:stCxn id="188" idx="0"/>
                <a:endCxn id="182" idx="5"/>
              </p:cNvCxnSpPr>
              <p:nvPr/>
            </p:nvCxnSpPr>
            <p:spPr>
              <a:xfrm flipH="1" rot="5400000">
                <a:off x="1807950" y="3954250"/>
                <a:ext cx="1830600" cy="1335300"/>
              </a:xfrm>
              <a:prstGeom prst="curvedConnector3">
                <a:avLst>
                  <a:gd fmla="val 47870" name="adj1"/>
                </a:avLst>
              </a:prstGeom>
              <a:noFill/>
              <a:ln cap="flat" cmpd="sng" w="38100">
                <a:solidFill>
                  <a:srgbClr val="0000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99" name="Google Shape;199;g3822fd08855_0_79"/>
              <p:cNvSpPr txBox="1"/>
              <p:nvPr/>
            </p:nvSpPr>
            <p:spPr>
              <a:xfrm>
                <a:off x="1466846" y="4027490"/>
                <a:ext cx="831600" cy="49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20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14</a:t>
                </a:r>
                <a:endParaRPr/>
              </a:p>
            </p:txBody>
          </p:sp>
          <p:sp>
            <p:nvSpPr>
              <p:cNvPr id="200" name="Google Shape;200;g3822fd08855_0_79"/>
              <p:cNvSpPr txBox="1"/>
              <p:nvPr/>
            </p:nvSpPr>
            <p:spPr>
              <a:xfrm>
                <a:off x="2762260" y="4317996"/>
                <a:ext cx="831600" cy="49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20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10</a:t>
                </a:r>
                <a:endParaRPr/>
              </a:p>
            </p:txBody>
          </p:sp>
          <p:sp>
            <p:nvSpPr>
              <p:cNvPr id="201" name="Google Shape;201;g3822fd08855_0_79"/>
              <p:cNvSpPr txBox="1"/>
              <p:nvPr/>
            </p:nvSpPr>
            <p:spPr>
              <a:xfrm>
                <a:off x="2438400" y="5384800"/>
                <a:ext cx="311100" cy="49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20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</a:t>
                </a:r>
                <a:endParaRPr/>
              </a:p>
            </p:txBody>
          </p:sp>
          <p:sp>
            <p:nvSpPr>
              <p:cNvPr id="202" name="Google Shape;202;g3822fd08855_0_79"/>
              <p:cNvSpPr txBox="1"/>
              <p:nvPr/>
            </p:nvSpPr>
            <p:spPr>
              <a:xfrm>
                <a:off x="2438400" y="2794000"/>
                <a:ext cx="311100" cy="49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20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6</a:t>
                </a:r>
                <a:endParaRPr/>
              </a:p>
            </p:txBody>
          </p:sp>
          <p:sp>
            <p:nvSpPr>
              <p:cNvPr id="203" name="Google Shape;203;g3822fd08855_0_79"/>
              <p:cNvSpPr txBox="1"/>
              <p:nvPr/>
            </p:nvSpPr>
            <p:spPr>
              <a:xfrm>
                <a:off x="4108450" y="2794000"/>
                <a:ext cx="311100" cy="49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20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4</a:t>
                </a:r>
                <a:endParaRPr/>
              </a:p>
            </p:txBody>
          </p:sp>
          <p:sp>
            <p:nvSpPr>
              <p:cNvPr id="204" name="Google Shape;204;g3822fd08855_0_79"/>
              <p:cNvSpPr txBox="1"/>
              <p:nvPr/>
            </p:nvSpPr>
            <p:spPr>
              <a:xfrm>
                <a:off x="3200400" y="3165475"/>
                <a:ext cx="311100" cy="49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20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5</a:t>
                </a:r>
                <a:endParaRPr/>
              </a:p>
            </p:txBody>
          </p:sp>
          <p:sp>
            <p:nvSpPr>
              <p:cNvPr id="205" name="Google Shape;205;g3822fd08855_0_79"/>
              <p:cNvSpPr txBox="1"/>
              <p:nvPr/>
            </p:nvSpPr>
            <p:spPr>
              <a:xfrm>
                <a:off x="4946650" y="4073525"/>
                <a:ext cx="311100" cy="49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20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/>
              </a:p>
            </p:txBody>
          </p:sp>
          <p:sp>
            <p:nvSpPr>
              <p:cNvPr id="206" name="Google Shape;206;g3822fd08855_0_79"/>
              <p:cNvSpPr txBox="1"/>
              <p:nvPr/>
            </p:nvSpPr>
            <p:spPr>
              <a:xfrm>
                <a:off x="6089650" y="3175000"/>
                <a:ext cx="311100" cy="49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20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9</a:t>
                </a:r>
                <a:endParaRPr/>
              </a:p>
            </p:txBody>
          </p:sp>
          <p:sp>
            <p:nvSpPr>
              <p:cNvPr id="207" name="Google Shape;207;g3822fd08855_0_79"/>
              <p:cNvSpPr txBox="1"/>
              <p:nvPr/>
            </p:nvSpPr>
            <p:spPr>
              <a:xfrm>
                <a:off x="6032518" y="4706613"/>
                <a:ext cx="831600" cy="49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20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15</a:t>
                </a:r>
                <a:endParaRPr/>
              </a:p>
            </p:txBody>
          </p:sp>
          <p:sp>
            <p:nvSpPr>
              <p:cNvPr id="208" name="Google Shape;208;g3822fd08855_0_79"/>
              <p:cNvSpPr txBox="1"/>
              <p:nvPr/>
            </p:nvSpPr>
            <p:spPr>
              <a:xfrm>
                <a:off x="4025900" y="5410200"/>
                <a:ext cx="311100" cy="49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20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8</a:t>
                </a:r>
                <a:endParaRPr/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822fd08855_0_51"/>
          <p:cNvSpPr txBox="1"/>
          <p:nvPr>
            <p:ph idx="1" type="body"/>
          </p:nvPr>
        </p:nvSpPr>
        <p:spPr>
          <a:xfrm>
            <a:off x="311700" y="603100"/>
            <a:ext cx="7796100" cy="39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Greedy algorithm like Dijkstra, but instead of shortest path, it picks minimum weight edge to expand MST.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Grows a tree starting from any node.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Steps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Start from a source node, mark it visited.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Push all outgoing edges into a min-heap.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While MST not complete: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Extract minimum edge (u, v, w).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If v is not visited, add it to MST and push its edges into heap.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Complexity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Similar to Dijkstra with min-heap.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O(E log V).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4" name="Google Shape;214;g3822fd08855_0_51"/>
          <p:cNvSpPr txBox="1"/>
          <p:nvPr>
            <p:ph type="title"/>
          </p:nvPr>
        </p:nvSpPr>
        <p:spPr>
          <a:xfrm>
            <a:off x="311700" y="124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220"/>
              <a:t>Prim’s Algorithm</a:t>
            </a:r>
            <a:endParaRPr sz="2220"/>
          </a:p>
        </p:txBody>
      </p:sp>
      <p:sp>
        <p:nvSpPr>
          <p:cNvPr id="215" name="Google Shape;215;g3822fd08855_0_51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822fd08855_0_117"/>
          <p:cNvSpPr txBox="1"/>
          <p:nvPr>
            <p:ph type="title"/>
          </p:nvPr>
        </p:nvSpPr>
        <p:spPr>
          <a:xfrm>
            <a:off x="311700" y="124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220"/>
              <a:t>Prim’s Algorithm</a:t>
            </a:r>
            <a:endParaRPr sz="2220"/>
          </a:p>
        </p:txBody>
      </p:sp>
      <p:sp>
        <p:nvSpPr>
          <p:cNvPr id="221" name="Google Shape;221;g3822fd08855_0_117"/>
          <p:cNvSpPr txBox="1"/>
          <p:nvPr>
            <p:ph idx="12" type="sldNum"/>
          </p:nvPr>
        </p:nvSpPr>
        <p:spPr>
          <a:xfrm>
            <a:off x="8548658" y="47065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1" lang="en" sz="1500">
                <a:solidFill>
                  <a:schemeClr val="lt1"/>
                </a:solidFill>
              </a:rPr>
              <a:t>‹#›</a:t>
            </a:fld>
            <a:endParaRPr b="1" sz="1500">
              <a:solidFill>
                <a:schemeClr val="lt1"/>
              </a:solidFill>
            </a:endParaRPr>
          </a:p>
        </p:txBody>
      </p:sp>
      <p:sp>
        <p:nvSpPr>
          <p:cNvPr id="222" name="Google Shape;222;g3822fd08855_0_117"/>
          <p:cNvSpPr txBox="1"/>
          <p:nvPr/>
        </p:nvSpPr>
        <p:spPr>
          <a:xfrm>
            <a:off x="425125" y="696925"/>
            <a:ext cx="5853900" cy="3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MST-Prim(G, w, r)</a:t>
            </a:r>
            <a:endParaRPr sz="3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Q = V[G];</a:t>
            </a:r>
            <a:endParaRPr sz="3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for each </a:t>
            </a:r>
            <a:r>
              <a:rPr b="1" i="1" lang="en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</a:t>
            </a:r>
            <a:r>
              <a:rPr b="1" lang="en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∈ Q</a:t>
            </a:r>
            <a:endParaRPr sz="3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key[u] = ∞;</a:t>
            </a:r>
            <a:endParaRPr sz="3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key[r] = 0;</a:t>
            </a:r>
            <a:endParaRPr sz="3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p[r] = NULL;</a:t>
            </a:r>
            <a:endParaRPr sz="3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while (Q not empty)</a:t>
            </a:r>
            <a:endParaRPr sz="3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u = ExtractMin(Q);</a:t>
            </a:r>
            <a:endParaRPr sz="3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each </a:t>
            </a:r>
            <a:r>
              <a:rPr b="1" i="1" lang="en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1" lang="en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∈ Adj[</a:t>
            </a:r>
            <a:r>
              <a:rPr b="1" i="1" lang="en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</a:t>
            </a:r>
            <a:r>
              <a:rPr b="1" lang="en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3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if (v ∈ Q and w(</a:t>
            </a:r>
            <a:r>
              <a:rPr b="1" i="1" lang="en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u,v</a:t>
            </a:r>
            <a:r>
              <a:rPr b="1" lang="en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 &lt; key[</a:t>
            </a:r>
            <a:r>
              <a:rPr b="1" i="1" lang="en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1" lang="en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3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p[v] = u;</a:t>
            </a:r>
            <a:endParaRPr sz="3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key[v] = w(u,v);</a:t>
            </a:r>
            <a:endParaRPr b="1"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"/>
          <p:cNvSpPr/>
          <p:nvPr/>
        </p:nvSpPr>
        <p:spPr>
          <a:xfrm>
            <a:off x="0" y="0"/>
            <a:ext cx="9157500" cy="5198100"/>
          </a:xfrm>
          <a:prstGeom prst="rect">
            <a:avLst/>
          </a:prstGeom>
          <a:solidFill>
            <a:srgbClr val="FF57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2"/>
          <p:cNvSpPr txBox="1"/>
          <p:nvPr>
            <p:ph type="ctrTitle"/>
          </p:nvPr>
        </p:nvSpPr>
        <p:spPr>
          <a:xfrm>
            <a:off x="311700" y="2175025"/>
            <a:ext cx="8520600" cy="97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Any Questions?</a:t>
            </a:r>
            <a:endParaRPr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7a4b6cd897_0_0"/>
          <p:cNvSpPr/>
          <p:nvPr/>
        </p:nvSpPr>
        <p:spPr>
          <a:xfrm>
            <a:off x="0" y="0"/>
            <a:ext cx="9157500" cy="5198100"/>
          </a:xfrm>
          <a:prstGeom prst="rect">
            <a:avLst/>
          </a:prstGeom>
          <a:solidFill>
            <a:srgbClr val="FF57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7a4b6cd897_0_0"/>
          <p:cNvSpPr txBox="1"/>
          <p:nvPr>
            <p:ph type="ctrTitle"/>
          </p:nvPr>
        </p:nvSpPr>
        <p:spPr>
          <a:xfrm>
            <a:off x="311700" y="2175025"/>
            <a:ext cx="8520600" cy="97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You!</a:t>
            </a:r>
            <a:endParaRPr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